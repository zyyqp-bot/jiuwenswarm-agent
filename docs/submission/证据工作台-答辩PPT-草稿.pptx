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14181F"/>
                </a:solidFill>
                <a:latin typeface="Microsoft YaHei"/>
              </a:rPr>
              <a:t>证据工作台</a:t>
            </a:r>
          </a:p>
          <a:p>
            <a:r>
              <a:rPr sz="2400" b="0">
                <a:solidFill>
                  <a:srgbClr val="1F5EFF"/>
                </a:solidFill>
                <a:latin typeface="Microsoft YaHei"/>
              </a:rPr>
              <a:t>可审计的多 Agent 资料研读与交付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4023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B6473"/>
                </a:solidFill>
                <a:latin typeface="Microsoft YaHei"/>
              </a:rPr>
              <a:t>每条结论都能回到原文，冲突不被消解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473"/>
                </a:solidFill>
                <a:latin typeface="Microsoft YaHei"/>
              </a:rPr>
              <a:t>https://workbench-334475-5-1515867239.sh.run.tcloudbase.com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81F"/>
                </a:solidFill>
                <a:latin typeface="Microsoft YaHei"/>
              </a:rPr>
              <a:t>作品背景与说明</a:t>
            </a:r>
          </a:p>
          <a:p>
            <a:r>
              <a:rPr sz="1400" b="0">
                <a:solidFill>
                  <a:srgbClr val="5B6473"/>
                </a:solidFill>
                <a:latin typeface="Microsoft YaHei"/>
              </a:rPr>
              <a:t>政策研读需要的是有出处的结论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三个反复出现的问题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5B6473"/>
                </a:solidFill>
                <a:latin typeface="Microsoft YaHei"/>
              </a:rPr>
              <a:t>– 引用挂在答案末尾，读者看不出哪句话由哪条原文支撑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5B6473"/>
                </a:solidFill>
                <a:latin typeface="Microsoft YaHei"/>
              </a:rPr>
              <a:t>– 两份文件要求不一致时，结论被悄悄折中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5B6473"/>
                </a:solidFill>
                <a:latin typeface="Microsoft YaHei"/>
              </a:rPr>
              <a:t>– 模型说“已完成”，但结果没有通过任何结构化检查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目标用户：学校管理者、合规与教研人员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方案：Leader 规划 + 两名成员分工取证与成稿，应用侧做引用与完成门禁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81F"/>
                </a:solidFill>
                <a:latin typeface="Microsoft YaHei"/>
              </a:rPr>
              <a:t>数据来源（1/2）</a:t>
            </a:r>
          </a:p>
          <a:p>
            <a:r>
              <a:rPr sz="1400" b="0">
                <a:solidFill>
                  <a:srgbClr val="5B6473"/>
                </a:solidFill>
                <a:latin typeface="Microsoft YaHei"/>
              </a:rPr>
              <a:t>全部为官方站点公开文本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77240" y="1737360"/>
          <a:ext cx="106070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2651760"/>
                <a:gridCol w="2651760"/>
              </a:tblGrid>
              <a:tr h="10058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B6473"/>
                          </a:solidFill>
                          <a:latin typeface="Microsoft YaHei"/>
                        </a:rPr>
                        <a:t>工作区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B6473"/>
                          </a:solidFill>
                          <a:latin typeface="Microsoft YaHei"/>
                        </a:rPr>
                        <a:t>文件数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B6473"/>
                          </a:solidFill>
                          <a:latin typeface="Microsoft YaHei"/>
                        </a:rPr>
                        <a:t>切片数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B6473"/>
                          </a:solidFill>
                          <a:latin typeface="Microsoft YaHei"/>
                        </a:rPr>
                        <a:t>主要来源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Microsoft YaHei"/>
                        </a:rPr>
                        <a:t>AI 治理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Microsoft YaHei"/>
                        </a:rP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Microsoft YaHei"/>
                        </a:rPr>
                        <a:t>网信办、全国人大官网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Microsoft YaHei"/>
                        </a:rPr>
                        <a:t>教育政策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Microsoft YaHei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Microsoft YaHei"/>
                        </a:rPr>
                        <a:t>173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Microsoft YaHei"/>
                        </a:rPr>
                        <a:t>教育部、湖南省教育厅、中国政府网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Microsoft YaHei"/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Microsoft YaHei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Microsoft YaHei"/>
                        </a:rPr>
                        <a:t>265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Microsoft YaHei"/>
                        </a:rPr>
                        <a:t>逐份记录抓取日期与原文 URL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29284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81F"/>
                </a:solidFill>
                <a:latin typeface="Microsoft YaHei"/>
              </a:rPr>
              <a:t>数据来源（2/2）</a:t>
            </a:r>
          </a:p>
          <a:p>
            <a:r>
              <a:rPr sz="1400" b="0">
                <a:solidFill>
                  <a:srgbClr val="5B6473"/>
                </a:solidFill>
                <a:latin typeface="Microsoft YaHei"/>
              </a:rPr>
              <a:t>权威性与时效性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权威性：只取官方站点原文，来源清单随仓库提交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时效性：优先现行有效版本；无法核对纯文本的文件不纳入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采集：官方页面 → 正文段落抽取 → 去导航/页脚 → 保留条号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质量检查：逐份记录来源与条数；解析失败显式报错，不静默跳过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边界：不含判例与地方细则全集，避免把“没收录”说成“没有规定”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81F"/>
                </a:solidFill>
                <a:latin typeface="Microsoft YaHei"/>
              </a:rPr>
              <a:t>知识库内容</a:t>
            </a:r>
          </a:p>
          <a:p>
            <a:r>
              <a:rPr sz="1400" b="0">
                <a:solidFill>
                  <a:srgbClr val="5B6473"/>
                </a:solidFill>
                <a:latin typeface="Microsoft YaHei"/>
              </a:rPr>
              <a:t>265 个切片，可定位到章节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中文 FTS5 trigram 索引；每块保留来源、修订、chars:start-end 定位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每个工作区一个独立数据库：授权边界就是“打开哪个文件”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检索 SQL 不跨语料；跨工作区隔离由离线断言钉住（7/7）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降级可见：无向量时标记 keyword_only，不伪造相似度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81F"/>
                </a:solidFill>
                <a:latin typeface="Microsoft YaHei"/>
              </a:rPr>
              <a:t>预处理与利用</a:t>
            </a:r>
          </a:p>
          <a:p>
            <a:r>
              <a:rPr sz="1400" b="0">
                <a:solidFill>
                  <a:srgbClr val="5B6473"/>
                </a:solidFill>
                <a:latin typeface="Microsoft YaHei"/>
              </a:rPr>
              <a:t>抓取 → 解析 → 切片 → 索引 → 检索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抓取：curl 获取官方页面，按页面编码解码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解析：正文段落抽取，去除导航/页脚，保留条号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切片：目标 400 字、80 字重叠；记录 chars:start-end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索引：SQLite FTS5；同一文档新版本先删旧块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利用：成员调用 retrieve 工具取证，证据携带完整 provenance 进入引用校验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81F"/>
                </a:solidFill>
                <a:latin typeface="Microsoft YaHei"/>
              </a:rPr>
              <a:t>分析方法选择</a:t>
            </a:r>
          </a:p>
          <a:p>
            <a:r>
              <a:rPr sz="1400" b="0">
                <a:solidFill>
                  <a:srgbClr val="5B6473"/>
                </a:solidFill>
                <a:latin typeface="Microsoft YaHei"/>
              </a:rPr>
              <a:t>为什么是“多 Agent + 确定性门禁”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资料研读可拆成两类认知任务：取证与成稿；单 Agent 容易把检索结果直接当结论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Leader 产出结构化计划，应用侧校验：无环、依赖存在、验收声明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原生任务板派发，成员结构化回传；应用不建第二套调度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确定性门禁：引用、完成、执行有效性；模型自评不替代程序校验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81F"/>
                </a:solidFill>
                <a:latin typeface="Microsoft YaHei"/>
              </a:rPr>
              <a:t>问题理解与逻辑论证</a:t>
            </a:r>
          </a:p>
          <a:p>
            <a:r>
              <a:rPr sz="1400" b="0">
                <a:solidFill>
                  <a:srgbClr val="5B6473"/>
                </a:solidFill>
                <a:latin typeface="Microsoft YaHei"/>
              </a:rPr>
              <a:t>一次真实运行的任务图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966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B6473"/>
                </a:solidFill>
                <a:latin typeface="Microsoft YaHei"/>
              </a:rPr>
              <a:t>[截图：任务图（两个节点、状态变化）]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81F"/>
                </a:solidFill>
                <a:latin typeface="Microsoft YaHei"/>
              </a:rPr>
              <a:t>引用与验收漏斗</a:t>
            </a:r>
          </a:p>
          <a:p>
            <a:r>
              <a:rPr sz="1400" b="0">
                <a:solidFill>
                  <a:srgbClr val="5B6473"/>
                </a:solidFill>
                <a:latin typeface="Microsoft YaHei"/>
              </a:rPr>
              <a:t>从检索块到可支撑的引用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966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B6473"/>
                </a:solidFill>
                <a:latin typeface="Microsoft YaHei"/>
              </a:rPr>
              <a:t>[图：检索块 265 → 单任务保留证据 → fact claims → 通过校验的引用]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81F"/>
                </a:solidFill>
                <a:latin typeface="Microsoft YaHei"/>
              </a:rPr>
              <a:t>真实运行数据</a:t>
            </a:r>
          </a:p>
          <a:p>
            <a:r>
              <a:rPr sz="1400" b="0">
                <a:solidFill>
                  <a:srgbClr val="5B6473"/>
                </a:solidFill>
                <a:latin typeface="Microsoft YaHei"/>
              </a:rPr>
              <a:t>不预置答案，全部来自真实回合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77240" y="1737360"/>
          <a:ext cx="106070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80467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B6473"/>
                          </a:solidFill>
                          <a:latin typeface="Microsoft YaHei"/>
                        </a:rPr>
                        <a:t>运行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B6473"/>
                          </a:solidFill>
                          <a:latin typeface="Microsoft YaHei"/>
                        </a:rPr>
                        <a:t>终态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B6473"/>
                          </a:solidFill>
                          <a:latin typeface="Microsoft YaHei"/>
                        </a:rPr>
                        <a:t>关键结果</a:t>
                      </a:r>
                    </a:p>
                  </a:txBody>
                  <a:tcPr/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Microsoft YaHei"/>
                        </a:rPr>
                        <a:t>本地产品级验证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Microsoft YaHei"/>
                        </a:rPr>
                        <a:t>team.completed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Microsoft YaHei"/>
                        </a:rPr>
                        <a:t>11 条 fact 全部引用本任务证据</a:t>
                      </a:r>
                    </a:p>
                  </a:txBody>
                  <a:tcPr/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Microsoft YaHei"/>
                        </a:rPr>
                        <a:t>公网 · AI 治理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Microsoft YaHei"/>
                        </a:rPr>
                        <a:t>team_completed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Microsoft YaHei"/>
                        </a:rPr>
                        <a:t>报告 59 KB</a:t>
                      </a:r>
                    </a:p>
                  </a:txBody>
                  <a:tcPr/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Microsoft YaHei"/>
                        </a:rPr>
                        <a:t>公网 · 教育政策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Microsoft YaHei"/>
                        </a:rPr>
                        <a:t>team_completed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Microsoft YaHei"/>
                        </a:rPr>
                        <a:t>报告 68 KB</a:t>
                      </a:r>
                    </a:p>
                  </a:txBody>
                  <a:tcPr/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Microsoft YaHei"/>
                        </a:rPr>
                        <a:t>离线检查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Microsoft YaHei"/>
                        </a:rPr>
                        <a:t>39 脚本 / 630 断言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Microsoft YaHei"/>
                        </a:rPr>
                        <a:t>0 失败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29284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81F"/>
                </a:solidFill>
                <a:latin typeface="Microsoft YaHei"/>
              </a:rPr>
              <a:t>创新点展示</a:t>
            </a:r>
          </a:p>
          <a:p>
            <a:r>
              <a:rPr sz="1400" b="0">
                <a:solidFill>
                  <a:srgbClr val="5B6473"/>
                </a:solidFill>
                <a:latin typeface="Microsoft YaHei"/>
              </a:rPr>
              <a:t>三个可验证的差异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结论级引用 + “实际收到”的可判定定义：按任务检索集判定，而不是按语料里有没有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冲突保留：跨来源、同句式、不同数值 → 并列双方原文与定位，系统不裁决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真实委派 + 可审计终态：原生调度器拉起成员；只有 team.completed 且退出码 0 才算成功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81F"/>
                </a:solidFill>
                <a:latin typeface="Microsoft YaHei"/>
              </a:rPr>
              <a:t>独特视角</a:t>
            </a:r>
          </a:p>
          <a:p>
            <a:r>
              <a:rPr sz="1400" b="0">
                <a:solidFill>
                  <a:srgbClr val="5B6473"/>
                </a:solidFill>
                <a:latin typeface="Microsoft YaHei"/>
              </a:rPr>
              <a:t>教育 × 合规审核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不是“会聊天的法律助手”，而是“能交差的可审计工作底稿”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把 RAG 的评价对象从“答案像不像”换成“结论有没有出处、冲突有没有保留、完成有没有验证”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对 AI 进校园的现实价值：先解决“谁依据哪条、哪里不一致”，再谈教学创新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81F"/>
                </a:solidFill>
                <a:latin typeface="Microsoft YaHei"/>
              </a:rPr>
              <a:t>结果解读</a:t>
            </a:r>
          </a:p>
          <a:p>
            <a:r>
              <a:rPr sz="1400" b="0">
                <a:solidFill>
                  <a:srgbClr val="5B6473"/>
                </a:solidFill>
                <a:latin typeface="Microsoft YaHei"/>
              </a:rPr>
              <a:t>把“读文件”变成“可核对的清单”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数分钟内产出带引用的研读报告，可下载为 Markdown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降低合规遗漏与误引：每条事实都能回到来源与章节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不是万能问答：未收录的资料不会凭空出现，证据不足会显式说明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81F"/>
                </a:solidFill>
                <a:latin typeface="Microsoft YaHei"/>
              </a:rPr>
              <a:t>问题与建议（1/2）</a:t>
            </a:r>
          </a:p>
          <a:p>
            <a:r>
              <a:rPr sz="1400" b="0">
                <a:solidFill>
                  <a:srgbClr val="5B6473"/>
                </a:solidFill>
                <a:latin typeface="Microsoft YaHei"/>
              </a:rPr>
              <a:t>已知限制与优化方向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公网不开放上传与 shell/文件工具（安全取舍）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5B6473"/>
                </a:solidFill>
                <a:latin typeface="Microsoft YaHei"/>
              </a:rPr>
              <a:t>– 建议：赛后增加本地/管理员模式 + 沙箱工具包，公网保持只读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未挂持久卷，重启后运行历史与索引重建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5B6473"/>
                </a:solidFill>
                <a:latin typeface="Microsoft YaHei"/>
              </a:rPr>
              <a:t>– 建议：挂 CFS 或对象存储归档；索引可自动重建，历史需持久化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81F"/>
                </a:solidFill>
                <a:latin typeface="Microsoft YaHei"/>
              </a:rPr>
              <a:t>问题与建议（2/2）</a:t>
            </a:r>
          </a:p>
          <a:p>
            <a:r>
              <a:rPr sz="1400" b="0">
                <a:solidFill>
                  <a:srgbClr val="5B6473"/>
                </a:solidFill>
                <a:latin typeface="Microsoft YaHei"/>
              </a:rPr>
              <a:t>优化优先级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固定三成员名册，依赖型任务的评审流程尚未在真实调度器验证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5B6473"/>
                </a:solidFill>
                <a:latin typeface="Microsoft YaHei"/>
              </a:rPr>
              <a:t>– 建议：真实回合验证 reviewer 结算后恢复 research→engineering 依赖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4181F"/>
                </a:solidFill>
                <a:latin typeface="Microsoft YaHei"/>
              </a:rPr>
              <a:t>• 优先级：持久化 → 通用工具包 → 更多工作区 → 自适应模型路由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81F"/>
                </a:solidFill>
                <a:latin typeface="Microsoft YaHei"/>
              </a:rPr>
              <a:t>风险识别与应对</a:t>
            </a:r>
          </a:p>
          <a:p>
            <a:r>
              <a:rPr sz="1400" b="0">
                <a:solidFill>
                  <a:srgbClr val="5B6473"/>
                </a:solidFill>
                <a:latin typeface="Microsoft YaHei"/>
              </a:rPr>
              <a:t>把风险写在明处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77240" y="1737360"/>
          <a:ext cx="106070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80467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5B6473"/>
                          </a:solidFill>
                          <a:latin typeface="Microsoft YaHei"/>
                        </a:rPr>
                        <a:t>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5B6473"/>
                          </a:solidFill>
                          <a:latin typeface="Microsoft YaHei"/>
                        </a:rPr>
                        <a:t>应对</a:t>
                      </a:r>
                    </a:p>
                  </a:txBody>
                  <a:tcPr/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81F"/>
                          </a:solidFill>
                          <a:latin typeface="Microsoft YaHei"/>
                        </a:rPr>
                        <a:t>数据安全与隐私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81F"/>
                          </a:solidFill>
                          <a:latin typeface="Microsoft YaHei"/>
                        </a:rPr>
                        <a:t>公网只读预置语料、无上传；会话隔离；密钥只在服务端</a:t>
                      </a:r>
                    </a:p>
                  </a:txBody>
                  <a:tcPr/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81F"/>
                          </a:solidFill>
                          <a:latin typeface="Microsoft YaHei"/>
                        </a:rPr>
                        <a:t>幻觉与误引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81F"/>
                          </a:solidFill>
                          <a:latin typeface="Microsoft YaHei"/>
                        </a:rPr>
                        <a:t>结论级引用 + 结构化验收；未验证结论改标</a:t>
                      </a:r>
                    </a:p>
                  </a:txBody>
                  <a:tcPr/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81F"/>
                          </a:solidFill>
                          <a:latin typeface="Microsoft YaHei"/>
                        </a:rPr>
                        <a:t>成本与滥用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81F"/>
                          </a:solidFill>
                          <a:latin typeface="Microsoft YaHei"/>
                        </a:rPr>
                        <a:t>并发/每日配额、回合截止时间、单实例锁</a:t>
                      </a:r>
                    </a:p>
                  </a:txBody>
                  <a:tcPr/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81F"/>
                          </a:solidFill>
                          <a:latin typeface="Microsoft YaHei"/>
                        </a:rPr>
                        <a:t>平台依赖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81F"/>
                          </a:solidFill>
                          <a:latin typeface="Microsoft YaHei"/>
                        </a:rPr>
                        <a:t>单容器镜像；换平台只换部署配置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29284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81F"/>
                </a:solidFill>
                <a:latin typeface="Microsoft YaHei"/>
              </a:rPr>
              <a:t>应用结果呈现</a:t>
            </a:r>
          </a:p>
          <a:p>
            <a:r>
              <a:rPr sz="1400" b="0">
                <a:solidFill>
                  <a:srgbClr val="5B6473"/>
                </a:solidFill>
                <a:latin typeface="Microsoft YaHei"/>
              </a:rPr>
              <a:t>工作台界面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966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B6473"/>
                </a:solidFill>
                <a:latin typeface="Microsoft YaHei"/>
              </a:rPr>
              <a:t>[截图：登录页 / 工作区与目标输入 / 任务图 + 证据抽屉 / 报告与冲突面板]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81F"/>
                </a:solidFill>
                <a:latin typeface="Microsoft YaHei"/>
              </a:rPr>
              <a:t>提示词示例 1</a:t>
            </a:r>
          </a:p>
          <a:p>
            <a:r>
              <a:rPr sz="1400" b="0">
                <a:solidFill>
                  <a:srgbClr val="5B6473"/>
                </a:solidFill>
                <a:latin typeface="Microsoft YaHei"/>
              </a:rPr>
              <a:t>教育政策工作区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4181F"/>
                </a:solidFill>
                <a:latin typeface="Microsoft YaHei"/>
              </a:rPr>
              <a:t>提示词：中小学使用生成式人工智能辅助教学时，学校和教师需要注意哪些要求？请给出依据条文。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966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B6473"/>
                </a:solidFill>
                <a:latin typeface="Microsoft YaHei"/>
              </a:rPr>
              <a:t>[截图：报告“结论”与“证据”小节]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81F"/>
                </a:solidFill>
                <a:latin typeface="Microsoft YaHei"/>
              </a:rPr>
              <a:t>提示词示例 2–3 与链接</a:t>
            </a:r>
          </a:p>
          <a:p>
            <a:r>
              <a:rPr sz="1400" b="0">
                <a:solidFill>
                  <a:srgbClr val="5B6473"/>
                </a:solidFill>
                <a:latin typeface="Microsoft YaHei"/>
              </a:rPr>
              <a:t>AI 治理工作区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4181F"/>
                </a:solidFill>
                <a:latin typeface="Microsoft YaHei"/>
              </a:rPr>
              <a:t>• 示例 2：面向公众的生成式 AI 客服上线前，必须完成哪些合规动作？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4181F"/>
                </a:solidFill>
                <a:latin typeface="Microsoft YaHei"/>
              </a:rPr>
              <a:t>• 示例 3：深度合成服务提供者有哪些标识义务？不同文件的要求是否一致？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966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B6473"/>
                </a:solidFill>
                <a:latin typeface="Microsoft YaHei"/>
              </a:rPr>
              <a:t>[截图：AI 治理报告 + 冲突候选面板]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5EFF"/>
                </a:solidFill>
                <a:latin typeface="Microsoft YaHei"/>
              </a:rPr>
              <a:t>智能体链接：https://workbench-334475-5-1515867239.sh.run.tcloudbase.com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