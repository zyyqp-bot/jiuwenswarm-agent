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11B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6211B"/>
                </a:solidFill>
                <a:latin typeface="Arial"/>
              </a:rPr>
              <a:t>切片数（块）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切片数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6211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AI 治理</c:v>
                  </c:pt>
                  <c:pt idx="1">
                    <c:v>教育政策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92</c:v>
                </c:pt>
                <c:pt idx="1">
                  <c:v>288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6211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6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"/>
          <c:min val="0"/>
        </c:scaling>
        <c:delete val="0"/>
        <c:axPos val="b"/>
        <c:majorGridlines>
          <c:spPr>
            <a:ln w="12700" cap="flat">
              <a:solidFill>
                <a:srgbClr val="E8ED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6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开场：一句话说明作品是什么、为谁解决什么问题。不要念标题。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三个问题各一句，不要展开；最后落到“谁承担合规责任”。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强调来源可回查；不吹数量，直接说 25 份 380 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四个数字是事实卡；右下三条是设计取舍，不展开术语。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流程只讲输入输出；最后一句是差异点：证据必须真的被检索到。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左右对比，最后一句是立场：不把完成声明当验收。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指着截图讲：两个任务、两名成员、状态在动。强调不是 Leader 在文字里分工。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数字来自示例运行：101 条证据、12 条 fact 全部有引用。说明被裁掉的证据不算支撑。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先给三个数字；不展开检查脚本细节。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每个创新点一句话 + 一条证据；不要念三遍“创新”。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跨学科视角：教育场景 + 合规审核方法，不是通用问答。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左右各四条，讲使用前后的差别；最后补一句边界。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主动说缺口，评委会更信前面的数据。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顺序有理由：先保体验，再扩能力。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四类风险各一句应对；数据安全是评委最关心的。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左边登录，右边选工作区和目标；强调默认就是教育。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念一遍提示词；强调输出是合规清单，不是一段泛泛的回答。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截图就是评委会看到的报告；冲突为空时解释规则，不暗示一致。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收尾只做邀请，不重复内容。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097280"/>
            <a:ext cx="3840480" cy="3840480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8E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JIUWENSWARM · EVIDENCE WORKBENCH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7830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41248" y="28803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9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可审计的多 Agent 资料研读与交付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41248" y="361188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D6C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每条结论都能回到原文，冲突不被消解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41248" y="57607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https://workbench-335317-9-1515867239.sh.run.tcloudbase.com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· 作品背景与说明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政策研读缺的不是答案，是出处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6420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25880" y="16002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引用挂在答案末尾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25880" y="1984248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读者看不出哪句话由哪条原文支撑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297180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99008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25880" y="29260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冲突被悄悄抹平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25880" y="3310128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两份文件要求不一致时，结论被折中成一个说法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3159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25880" y="425196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完成没有验证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4636008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模型说“已完成”，但结果没有通过任何结构化检查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321040" y="1600200"/>
            <a:ext cx="3154680" cy="3611880"/>
          </a:xfrm>
          <a:prstGeom prst="roundRect">
            <a:avLst>
              <a:gd name="adj" fmla="val 2319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0" y="18288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我们服务的人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95360" y="22402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学校管理者 · 教研人员 · 合规负责人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595360" y="3063240"/>
            <a:ext cx="2606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他们承担的是合规责任，所以需要能回查的结论，而不是一段流畅的生成文本。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· 数据来源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 份官方文件，全部可回查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508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两类语料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5029200" cy="868680"/>
          </a:xfrm>
          <a:prstGeom prst="roundRect">
            <a:avLst>
              <a:gd name="adj" fmla="val 8421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057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治理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23774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份 / 92 块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17520" y="2194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网信办 · 全国人大官网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2971800"/>
            <a:ext cx="5029200" cy="868680"/>
          </a:xfrm>
          <a:prstGeom prst="roundRect">
            <a:avLst>
              <a:gd name="adj" fmla="val 8421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3108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教育政策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34290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份 / 288 块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17520" y="32461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教育部 · 湖南省教育厅 · 中国政府网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4114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权威性：只取官方站点原文，来源清单随仓库提交。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45262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时效性：优先现行有效版本；无法核对纯文本的文件不纳入。</a:t>
            </a:r>
            <a:endParaRPr lang="en-US" sz="12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126480" y="1600200"/>
          <a:ext cx="53035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3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· 知识库内容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每个工作区一个独立索引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2468880" cy="1325880"/>
          </a:xfrm>
          <a:prstGeom prst="roundRect">
            <a:avLst>
              <a:gd name="adj" fmla="val 5517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7373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78408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份文档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78408" y="26060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官方公开文本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1645920"/>
            <a:ext cx="2468880" cy="1325880"/>
          </a:xfrm>
          <a:prstGeom prst="roundRect">
            <a:avLst>
              <a:gd name="adj" fmla="val 5517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03320" y="17373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380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721608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个切片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721608" y="26060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400 字 / 80 重叠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3246120"/>
            <a:ext cx="2468880" cy="1325880"/>
          </a:xfrm>
          <a:prstGeom prst="roundRect">
            <a:avLst>
              <a:gd name="adj" fmla="val 5517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3375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978408" y="3904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个工作区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78408" y="4206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互不检索对方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520440" y="3246120"/>
            <a:ext cx="2468880" cy="1325880"/>
          </a:xfrm>
          <a:prstGeom prst="roundRect">
            <a:avLst>
              <a:gd name="adj" fmla="val 5517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03320" y="33375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3721608" y="3904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跨域泄漏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721608" y="4206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离线断言钉住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0" y="17373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切片保留：来源 URI · 内容修订 · chars 定位 · 所属工作区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0" y="224028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授权边界是“打开哪个数据库”，不是查询参数过滤。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 SQL 不跨语料；两个工作区互相检索不到对方内容。</a:t>
            </a:r>
            <a:endParaRPr lang="en-US" sz="12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无向量时标记 keyword_only，不伪造相似度。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· 数据预处理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从官方页面到可检索证据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2423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抓取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94360" y="283464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curl 获取官方页面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按页面编码解码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77440" y="2286000"/>
            <a:ext cx="365760" cy="256032"/>
          </a:xfrm>
          <a:prstGeom prst="rightArrow">
            <a:avLst/>
          </a:prstGeom>
          <a:solidFill>
            <a:srgbClr val="9DBFA5"/>
          </a:solidFill>
          <a:ln w="12700">
            <a:solidFill>
              <a:srgbClr val="9DBFA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2608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2608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880360" y="2423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880360" y="283464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正文段落抽取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去导航 / 页脚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2286000"/>
            <a:ext cx="365760" cy="256032"/>
          </a:xfrm>
          <a:prstGeom prst="rightArrow">
            <a:avLst/>
          </a:prstGeom>
          <a:solidFill>
            <a:srgbClr val="9DBFA5"/>
          </a:solidFill>
          <a:ln w="12700">
            <a:solidFill>
              <a:srgbClr val="9DBFA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1208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166360" y="2423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切片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166360" y="283464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400 字 / 80 重叠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 chars 定位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49440" y="2286000"/>
            <a:ext cx="365760" cy="256032"/>
          </a:xfrm>
          <a:prstGeom prst="rightArrow">
            <a:avLst/>
          </a:prstGeom>
          <a:solidFill>
            <a:srgbClr val="9DBFA5"/>
          </a:solidFill>
          <a:ln w="12700">
            <a:solidFill>
              <a:srgbClr val="9DBFA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9808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452360" y="2423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452360" y="283464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FTS5 trigram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新版本先删旧块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235440" y="2286000"/>
            <a:ext cx="365760" cy="256032"/>
          </a:xfrm>
          <a:prstGeom prst="rightArrow">
            <a:avLst/>
          </a:prstGeom>
          <a:solidFill>
            <a:srgbClr val="9DBFA5"/>
          </a:solidFill>
          <a:ln w="12700">
            <a:solidFill>
              <a:srgbClr val="9DBFA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8408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8408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738360" y="2423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取证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738360" y="283464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成员调用 retrieve</a:t>
            </a:r>
            <a:endParaRPr lang="en-US" sz="1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证据带完整来源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77240" y="4343400"/>
            <a:ext cx="10607040" cy="1234440"/>
          </a:xfrm>
          <a:prstGeom prst="roundRect">
            <a:avLst>
              <a:gd name="adj" fmla="val 5926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5840" y="4526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Agent 中的用途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05840" y="48463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成员检索到的每条证据都带着来源、修订与定位，直接进入结论引用校验；没有检索到的证据不能作为事实依据。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· 分析方法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为什么是“多 Agent + 确定性门禁”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00200"/>
            <a:ext cx="4937760" cy="4114800"/>
          </a:xfrm>
          <a:prstGeom prst="roundRect">
            <a:avLst>
              <a:gd name="adj" fmla="val 1778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 Agent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0"/>
            <a:ext cx="4434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分工、依赖和完成判定都在一段上下文里。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出了错，无法定位是谁、哪一步。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模型说完成，就是完成。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029200" cy="4114800"/>
          </a:xfrm>
          <a:prstGeom prst="roundRect">
            <a:avLst>
              <a:gd name="adj" fmla="val 1778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783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 Agent + 门禁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0" y="2331720"/>
            <a:ext cx="329184" cy="329184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35000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086600" y="23317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Leader 出计划，应用侧校验：无环、依赖、验收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83680" y="3200400"/>
            <a:ext cx="329184" cy="329184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321868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086600" y="32004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原生任务板派发，成员结构化回传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0" y="4069080"/>
            <a:ext cx="329184" cy="329184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0" y="408736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86600" y="40690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引用、完成、执行有效性由程序判定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50749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模型自评不能替代程序校验。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· 问题理解与逻辑论证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任务板是框架自己的，不是文本里的“假装分工”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1417320"/>
            <a:ext cx="10835640" cy="3291840"/>
          </a:xfrm>
          <a:prstGeom prst="roundRect">
            <a:avLst>
              <a:gd name="adj" fmla="val 2222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pic>
        <p:nvPicPr>
          <p:cNvPr id="5" name="Image 0" descr="D:\Development\JiuwenSwarm-review\docs\submission\screenshots\task-graph-cr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536192"/>
            <a:ext cx="10469880" cy="3063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7240" y="498348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0017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280160" y="49651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原生调度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280160" y="532180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scheduled 调度器按 assignee 拉起成员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89120" y="498348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389120" y="50017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892040" y="49651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结构化回传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892040" y="532180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成员通过受校验的 submit 工具提交 claims / evidence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01000" y="498348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01000" y="50017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503920" y="49651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可审计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503920" y="532180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 result 绑定 execution，过期执行不能覆盖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7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· 逻辑论证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380 个切片到可支撑的引用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9509760" cy="713232"/>
          </a:xfrm>
          <a:prstGeom prst="roundRect">
            <a:avLst>
              <a:gd name="adj" fmla="val 7692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37944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380  全库切片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783080" y="2651760"/>
            <a:ext cx="7498080" cy="713232"/>
          </a:xfrm>
          <a:prstGeom prst="roundRect">
            <a:avLst>
              <a:gd name="adj" fmla="val 7692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83080" y="2798064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101  单任务检索证据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880360" y="3611880"/>
            <a:ext cx="5303520" cy="713232"/>
          </a:xfrm>
          <a:prstGeom prst="roundRect">
            <a:avLst>
              <a:gd name="adj" fmla="val 7692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80360" y="3758184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 fact 结论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11880" y="4572000"/>
            <a:ext cx="3840480" cy="713232"/>
          </a:xfrm>
          <a:prstGeom prst="roundRect">
            <a:avLst>
              <a:gd name="adj" fmla="val 7692"/>
            </a:avLst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11880" y="471830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 通过校验的引用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378440" y="1691640"/>
            <a:ext cx="1234440" cy="2331720"/>
          </a:xfrm>
          <a:prstGeom prst="roundRect">
            <a:avLst>
              <a:gd name="adj" fmla="val 5926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0" y="18288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469880" y="2240280"/>
            <a:ext cx="1051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事实必须引用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本任务实际</a:t>
            </a:r>
            <a:endParaRPr lang="en-US" sz="10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收到的证据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8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· 真实运行数据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不预置答案，全部来自真实回合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3337560" cy="2011680"/>
          </a:xfrm>
          <a:prstGeom prst="roundRect">
            <a:avLst>
              <a:gd name="adj" fmla="val 3636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28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024128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离线检查脚本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24128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630 项断言 · 0 失败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34840" y="1645920"/>
            <a:ext cx="3337560" cy="2011680"/>
          </a:xfrm>
          <a:prstGeom prst="roundRect">
            <a:avLst>
              <a:gd name="adj" fmla="val 3636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828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 KB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681728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教育评估报告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81728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returned / team_completed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92440" y="1645920"/>
            <a:ext cx="3337560" cy="2011680"/>
          </a:xfrm>
          <a:prstGeom prst="roundRect">
            <a:avLst>
              <a:gd name="adj" fmla="val 3636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18288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8339328" y="26060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公网工作区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39328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治理 59 KB · 教育 57 KB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41148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真实回合：Leader 规划 2 个任务，两名成员检索并逐条引用；以原生 team.completed 结束。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4617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失败也可见：超时、空闲、崩溃都写明确原因，不伪装成完成。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9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3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8E3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· 创新点展示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三个可验证的差异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5564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417320" y="169164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结论级引用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17320" y="210312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D6C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引用是否有效，按任务实际检索集判定，而不是按语料里有没有。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15468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1729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310896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冲突保留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17320" y="352044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D6C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跨来源、同句式、不同数值并列展示；系统不裁决，也不取平均。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4572000"/>
            <a:ext cx="384048" cy="384048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59028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17320" y="452628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真实委派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17320" y="4937760"/>
            <a:ext cx="9418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D6C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原生调度器拉起成员；只有 team.completed 且退出码 0 才算成功。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· 独特视角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RAG 的评价对象换掉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00200"/>
            <a:ext cx="10607040" cy="1737360"/>
          </a:xfrm>
          <a:prstGeom prst="roundRect">
            <a:avLst>
              <a:gd name="adj" fmla="val 4211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011680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b="1" dirty="0">
                <a:solidFill>
                  <a:srgbClr val="163A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不是“答案像不像”，而是“结论有没有出处、冲突有没有保留、完成有没有验证”。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822960" y="3657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 × 合规审核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不是“会聊天的法律助手”，而是“能交差的可审计工作底稿”。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先解决“谁依据哪条、哪里不一致”，再谈教学创新。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3657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AI 进校园的意义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09360" y="406908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作业批改能不能进校，取决于准入、数据和人审，而不是功能演示。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把政策要求落成可验收的清单，才是学校能用的助手。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· 结果解读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把“读文件”变成“可核对的清单”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00200"/>
            <a:ext cx="5074920" cy="3383280"/>
          </a:xfrm>
          <a:prstGeom prst="roundRect">
            <a:avLst>
              <a:gd name="adj" fmla="val 2162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783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以前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51560" y="23317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通读多份文件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2926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结论靠印象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3520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冲突看不到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4114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  无法复核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00200"/>
            <a:ext cx="5074920" cy="3383280"/>
          </a:xfrm>
          <a:prstGeom prst="roundRect">
            <a:avLst>
              <a:gd name="adj" fmla="val 2162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1783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23317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结论带 [fact] 与证据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37960" y="2926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来源 / 章节可回查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37960" y="3520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冲突候选并列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37960" y="4114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报告可下载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52578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不是万能问答：未收录的资料不会凭空出现，证据不足会显式说明。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· 问题与建议（1/2）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两个真实缺口，不藏着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00200"/>
            <a:ext cx="10607040" cy="1691640"/>
          </a:xfrm>
          <a:prstGeom prst="roundRect">
            <a:avLst>
              <a:gd name="adj" fmla="val 4324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1783080"/>
            <a:ext cx="365760" cy="365760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0136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54480" y="176479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公网不开放上传与 shell/文件工具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54480" y="228600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建议：赛后增加本地/管理员模式 + 沙箱工具包，公网保持只读。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3611880"/>
            <a:ext cx="10607040" cy="1691640"/>
          </a:xfrm>
          <a:prstGeom prst="roundRect">
            <a:avLst>
              <a:gd name="adj" fmla="val 4324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794760"/>
            <a:ext cx="365760" cy="365760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81304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54480" y="3776472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未挂持久卷，重启后运行历史丢失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0" y="429768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建议：挂 CFS 或对象存储归档；索引可自动重建，历史需持久化。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· 问题与建议（2/2）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优化优先级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持久化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8803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历史与配额不随重启丢失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52044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2044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通用工具包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20440" y="28803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 / 命令 / 网络，沙箱内启用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0936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更多工作区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28803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换语料即可复制到新领域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98280" y="1828800"/>
            <a:ext cx="457200" cy="457200"/>
          </a:xfrm>
          <a:prstGeom prst="ellipse">
            <a:avLst/>
          </a:prstGeom>
          <a:solidFill>
            <a:srgbClr val="D98E32"/>
          </a:solidFill>
          <a:ln w="12700">
            <a:solidFill>
              <a:srgbClr val="D98E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098280" y="18470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098280" y="24688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自适应路由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098280" y="28803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按任务复杂度选模型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4206240"/>
            <a:ext cx="10607040" cy="1234440"/>
          </a:xfrm>
          <a:prstGeom prst="roundRect">
            <a:avLst>
              <a:gd name="adj" fmla="val 5926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5262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先做持久化，再做工具包：前者影响评委体验，后者影响产品边界。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· 风险识别与应对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把风险写在明处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60020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783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数据安全 / 隐私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51560" y="2240280"/>
            <a:ext cx="4526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公网只读预置语料、无上传；会话隔离；密钥只在服务端。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7830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幻觉 / 误引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2240280"/>
            <a:ext cx="4526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结论级引用 + 结构化验收；未验证结论改标 [unverified]。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365760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38404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 / 滥用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51560" y="4297680"/>
            <a:ext cx="4526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并发与每日配额、回合截止时间、单实例锁。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3657600"/>
            <a:ext cx="5074920" cy="1783080"/>
          </a:xfrm>
          <a:prstGeom prst="roundRect">
            <a:avLst>
              <a:gd name="adj" fmla="val 4103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38404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平台依赖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37960" y="4297680"/>
            <a:ext cx="4526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单容器镜像；换平台只换部署配置。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· 应用结果呈现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工作台：登录、选工作区、给目标</a:t>
            </a:r>
            <a:endParaRPr lang="en-US" sz="3000" dirty="0"/>
          </a:p>
        </p:txBody>
      </p:sp>
      <p:pic>
        <p:nvPicPr>
          <p:cNvPr id="4" name="Image 0" descr="D:\Development\JiuwenSwarm-review\docs\submission\screenshots\log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554480"/>
            <a:ext cx="3840480" cy="4114800"/>
          </a:xfrm>
          <a:prstGeom prst="rect">
            <a:avLst/>
          </a:prstGeom>
        </p:spPr>
      </p:pic>
      <p:pic>
        <p:nvPicPr>
          <p:cNvPr id="5" name="Image 1" descr="D:\Development\JiuwenSwarm-review\docs\submission\screenshots\chat-star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554480"/>
            <a:ext cx="5029200" cy="4114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0058400" y="1645920"/>
            <a:ext cx="1463040" cy="3840480"/>
          </a:xfrm>
          <a:prstGeom prst="roundRect">
            <a:avLst>
              <a:gd name="adj" fmla="val 5000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10195560" y="182880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默认工作区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已切到教育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0195560" y="2926080"/>
            <a:ext cx="1234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目标只用自然语言，不预置任务拆法。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16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· 提示词示例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一次“评估”，不是一次“问答”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1554480"/>
            <a:ext cx="10607040" cy="1417320"/>
          </a:xfrm>
          <a:prstGeom prst="roundRect">
            <a:avLst>
              <a:gd name="adj" fmla="val 5161"/>
            </a:avLst>
          </a:prstGeom>
          <a:solidFill>
            <a:srgbClr val="E8EDE4"/>
          </a:solidFill>
          <a:ln w="12700">
            <a:solidFill>
              <a:srgbClr val="E8ED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7830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rgbClr val="163A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学校拟引入一款 AI 作业批改工具，请依据教育政策与 AI 教育指南，评估其合规要求并给出依据条文。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3383280"/>
            <a:ext cx="365760" cy="365760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40156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33649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准入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37033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进校审查 + 白名单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34840" y="3383280"/>
            <a:ext cx="365760" cy="365760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4840" y="340156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33649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37760" y="37033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最小授权 + 非必要不强制同意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3383280"/>
            <a:ext cx="365760" cy="365760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92440" y="3401568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595360" y="33649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人审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595360" y="37033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批改只作建议，教师确认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" y="4846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报告在“结论”下逐条列出 [fact] 与依据；点结论可只看它引用的原文。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17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· 报告与冲突面板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11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结论、依据、冲突三件事同屏</a:t>
            </a:r>
            <a:endParaRPr lang="en-US" sz="3000" dirty="0"/>
          </a:p>
        </p:txBody>
      </p:sp>
      <p:pic>
        <p:nvPicPr>
          <p:cNvPr id="4" name="Image 0" descr="D:\Development\JiuwenSwarm-review\docs\submission\screenshots\report-conflic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508760"/>
            <a:ext cx="749808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12480" y="1600200"/>
            <a:ext cx="3063240" cy="4297680"/>
          </a:xfrm>
          <a:prstGeom prst="roundRect">
            <a:avLst>
              <a:gd name="adj" fmla="val 2388"/>
            </a:avLst>
          </a:prstGeom>
          <a:solidFill>
            <a:srgbClr val="F6F4EC"/>
          </a:solidFill>
          <a:ln w="12700">
            <a:solidFill>
              <a:srgbClr val="F6F4E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41080" y="17830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看点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641080" y="224028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事实逐条标 [fact]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641080" y="29718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每条带依据与定位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641080" y="37033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冲突面板并列，不裁决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41080" y="443484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空状态写明检测规则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85800" y="647395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证据工作台 · 18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315200" y="6473952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6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第二届全国人工智能应用创新大赛 · 通用赛道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3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206240"/>
            <a:ext cx="4206240" cy="4206240"/>
          </a:xfrm>
          <a:prstGeom prst="ellipse">
            <a:avLst/>
          </a:prstGeom>
          <a:solidFill>
            <a:srgbClr val="2C6E49"/>
          </a:solidFill>
          <a:ln w="12700">
            <a:solidFill>
              <a:srgbClr val="2C6E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554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现在可以打开链接试一次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41248" y="23317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9DBF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两个工作区 · 真实模型 · 每条结论可回查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41248" y="3657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https://workbench-335317-9-1515867239.sh.run.tcloudbase.com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6C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账号与密码随作品在报名系统提交。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证据工作台</dc:title>
  <dc:subject>第二届全国人工智能应用创新大赛</dc:subject>
  <dc:creator>证据工作台</dc:creator>
  <cp:lastModifiedBy>证据工作台</cp:lastModifiedBy>
  <cp:revision>1</cp:revision>
  <dcterms:created xsi:type="dcterms:W3CDTF">2026-10-26T02:41:09Z</dcterms:created>
  <dcterms:modified xsi:type="dcterms:W3CDTF">2026-10-26T02:41:09Z</dcterms:modified>
</cp:coreProperties>
</file>